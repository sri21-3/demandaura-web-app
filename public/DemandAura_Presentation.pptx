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058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INTELLIGENCE &amp; MARKET FORESIGHT PLATFORM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DemandAura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14884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 the Future of Global Consumer Demand.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2697480"/>
            <a:ext cx="7132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Uncover genuine market interest, filter out passing media hype, and forecast 4-week demand trends across 14 countries in Fashion &amp; Beauty, Fitness &amp; Wearables, and Nutrition &amp; Diets.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31520" y="3794760"/>
            <a:ext cx="768096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977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&amp; Developed by CH Srivatsava   |   github.com/sri21-3   |   linkedin.com/in/21srivatsava   |   srisrivatsava120@gmail.com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PROBLEM STATEMENT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Global Brand &amp; Merchandising Teams Misallocate Capital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78638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7091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DemandAura · CH Srivatsava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640080" y="1417320"/>
            <a:ext cx="786384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527048"/>
            <a:ext cx="7498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Media Hype vs. True Buyer Intent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1801368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press coverage and editorial buzz often create the illusion of a booming market while actual consumer search demand remains flat—leading to wasted awareness spend and overstocking.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2441448"/>
            <a:ext cx="786384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551176"/>
            <a:ext cx="7498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Missed Grassroots Demand Breakouts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2825496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Organic consumer search interest frequently surges weeks before competitors or news outlets notice, causing supply chain stockouts when brands react too late.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3465576"/>
            <a:ext cx="786384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575304"/>
            <a:ext cx="7498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Static Geographic Market Tiers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3849624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annual market segmentation ignores fast-moving 4-week momentum shifts, treating accelerating emerging markets the same as stagnating ones.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PLATFORM SCOPE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Global Consumer Markets Tracked Every Week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78638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7091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DemandAura · CH Srivatsava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640080" y="1417320"/>
            <a:ext cx="1828800" cy="1143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53619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7240" y="196596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Countries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77240" y="219456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 America, Europe, APAC, LATAM, MEA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651760" y="1417320"/>
            <a:ext cx="1828800" cy="1143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88920" y="153619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788920" y="196596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Lifestyle Categories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788920" y="219456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Fashion &amp; Beauty, Fitness, Nutrition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663440" y="1417320"/>
            <a:ext cx="1828800" cy="1143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153619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4800600" y="196596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Tracked Keywords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800600" y="219456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structured search topic themes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675120" y="1417320"/>
            <a:ext cx="1828800" cy="1143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12280" y="153619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812280" y="196596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Foresight Models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812280" y="219456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Divergence, 4W Forecast, 3Y &amp; 4W Segments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40080" y="28346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Tracked Countries: Australia, Brazil, Canada, China, France, India, Kenya, Mexico, Nigeria, Singapore, South Africa, United Arab Emirates, United Kingdom, United States.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291840"/>
          <a:ext cx="78638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943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Consumer Category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21 Curated Search &amp; Media Keywords (5 Topic Batches per Category)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F172A"/>
                          </a:solidFill>
                        </a:rPr>
                        <a:t>Fashion &amp; Beauty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fashion, clothing, apparel, style, designer, luxury fashion, fast fashion, streetwear, athleisure, skincare, makeup, cosmetics, moisturizer, anti aging, haircare, shampoo, fragrance, perfume, beauty treatment, sneakers, jewelry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F172A"/>
                          </a:solidFill>
                        </a:rPr>
                        <a:t>Fitness &amp; Wearables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fitness, exercise, workout, training, gym, yoga, pilates, aerobics, hiit, crossfit, cardio, running, cycling, wearable, smartwatch, fitness tracker, garmin, fitbit, apple watch, heart rate monitor, step counter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F172A"/>
                          </a:solidFill>
                        </a:rPr>
                        <a:t>Nutrition &amp; Diets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diet, nutrition, vegan, vegetarian, plant based, keto, paleo, low carb, intermittent fasting, detox, superfood, organic, weight loss, supplement, protein powder, whey, creatine, vitamin, minerals, probiotics, functional food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DATA PIPELINE &amp; FEATURE ENGINEERING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Real-World Data Pillars &amp; Automated Weekly ETL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78638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7091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DemandAura · CH Srivatsava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640080" y="1371600"/>
            <a:ext cx="7863840" cy="6766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444752"/>
            <a:ext cx="7589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1: Shopper Search Intent (Google Trends)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77240" y="1673352"/>
            <a:ext cx="7589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0–100 search popularity across 15 keyword batches. Engineered features: 1W/2W/4W lags, 4-week rolling mean &amp; std, search velocity (1st derivative), and search acceleration (2nd derivative).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40080" y="2148840"/>
            <a:ext cx="7863840" cy="6766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221992"/>
            <a:ext cx="7589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2: Global News &amp; Editorial Tone (GDELT)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77240" y="2450592"/>
            <a:ext cx="7589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article mentions, log-transformed media volume, 4-week rolling media mean, net sentiment score, emotional polarity, launch activity density, and publisher source diversity.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0080" y="2926080"/>
            <a:ext cx="7863840" cy="6766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999232"/>
            <a:ext cx="7589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3: Macroeconomic Context (World Bank)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77240" y="3227832"/>
            <a:ext cx="7589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Country-level GDP per capita (USD purchasing power), annual consumer price inflation rate (%), and national internet penetration (% online population).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40080" y="3703320"/>
            <a:ext cx="7863840" cy="6766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776472"/>
            <a:ext cx="7589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4: Seasonal &amp; Retail Calendar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77240" y="4005072"/>
            <a:ext cx="7589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public holiday counts per week paired with cyclical trigonometric week encodings (sin_week, cos_week) to model smooth annual retail seasonality.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PREDICTIVE MODEL 1 (XGBOOST)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vs. Hype Divergence Score (-1.00 to +1.00)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78638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7091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DemandAura · CH Srivatsava</a:t>
            </a:r>
            <a:endParaRPr lang="en-US" sz="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7863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852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Specification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Pipeline &amp; Model Details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Endpoint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POST /predict/divergence   (Input: country_name, category)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Algorithm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XGBoost Regressor (n_estimators=500, learning_rate=0.05, max_depth=5, subsample=0.8)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Feature Vector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29 Ordered Features: 11 StandardScaler numerical + 1 unscaled (log_media_volume) + 17 OneHotEncoded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Target Scale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-1.00 (Media Hype &amp; Saturation)  to  0.00 (Balanced)  to  +1.00 (Underserved Shopper Demand)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Validation Metrics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Train R² = 0.98 (RMSE = 0.04)   |   Test R² = 0.84 (RMSE = 0.11)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Commercial Decision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Positive (+0.01 to +1.00): Scale search capture &amp; stock. Negative (-1.00 to -0.01): Avoid broad awareness spend.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PREDICTIVE MODEL 2 (LIGHTGBM)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4-Week Consumer Search Interest Forecaster (0–100 Index)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78638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7091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DemandAura · CH Srivatsava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7863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852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Specification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Pipeline &amp; Model Details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Endpoint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POST /forecast/search-interest   (Input: country_name, category)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Algorithm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Recursive Multi-Step LightGBM Regressor (n_estimators=1000, learning_rate=0.02, num_leaves=31)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Feature Vector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16 Ordered Features: Native categoricals, lags (t-1, t-2, t-4), 4W rolling stats, macro, sin/cos week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Forecast Horizon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4 Upcoming Weeks (Week +1, Week +2, Week +3, Week +4) on 0–100 Search Popularity Scale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Validation Metrics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Train R² = 0.97 (RMSE = 3.15)   |   Test R² = 0.88 (RMSE = 6.74)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Commercial Decision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Pre-position regional warehouse stock 3–4 weeks ahead of projected demand peaks &amp; time campaign drops.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UNSUPERVISED MODELS 3 &amp; 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Dual-Horizon Market Segmentation (Updated Weekly)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78638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7091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DemandAura · CH Srivatsava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42 Country × Category markets are grouped across two complementary time horizons using 6 core market fingerprint indicators (Search Interest, Media Volume, Demand-to-Media Ratio, Trend Slope, Net Sentiment, Purchasing Power):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78638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200400"/>
                <a:gridCol w="3200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Dimension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Long-Term Market Segmentation (3+ Years)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Recent 4-Week Momentum Segmentation</a:t>
                      </a:r>
                      <a:endParaRPr lang="en-US" sz="9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API Endpoints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GET /clusters/market-segmentation</a:t>
                      </a:r>
                      <a:endParaRPr lang="en-US" sz="9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GET /reports/market-segmentation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GET /clusters/4-weeks-segmentation</a:t>
                      </a:r>
                      <a:endParaRPr lang="en-US" sz="9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GET /reports/4-weeks-segmentation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Time Window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Multi-year historical baseline (Updated weekly)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Rolling latest 4-week window (Updated weekly)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Active Segments</a:t>
                      </a:r>
                      <a:endParaRPr lang="en-US" sz="9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(Current Run)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• Premium Organic Growth Engines (23)</a:t>
                      </a:r>
                      <a:endParaRPr lang="en-US" sz="9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• High-Income Latent Demand (10)</a:t>
                      </a:r>
                      <a:endParaRPr lang="en-US" sz="9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• Emerging Volatile Markets (8)</a:t>
                      </a:r>
                      <a:endParaRPr lang="en-US" sz="9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• Hyper-Hyped Premium Outlier (1)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• Untapped High-Demand Niches (17)</a:t>
                      </a:r>
                      <a:endParaRPr lang="en-US" sz="9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• High-Sentiment Seed Markets (8)</a:t>
                      </a:r>
                      <a:endParaRPr lang="en-US" sz="9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• Explosive Grassroots Opportunities (4)</a:t>
                      </a:r>
                      <a:endParaRPr lang="en-US" sz="9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• Fast-Growing High-Competition Waves (4)</a:t>
                      </a:r>
                      <a:endParaRPr lang="en-US" sz="9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• Saturated High-Interest Arenas (4)</a:t>
                      </a:r>
                      <a:endParaRPr lang="en-US" sz="9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• Declining High-Risk Sectors (4)</a:t>
                      </a:r>
                      <a:endParaRPr lang="en-US" sz="9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• Hyper-Hype PR Crisis Outlier (1)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Strategic Role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International expansion, pricing tiering &amp; long-term capital allocation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Early breakout detection, monthly ad budget reallocation &amp; PR risk radar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DYNAMIC WEEKLY REPORTING ENGINE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Self-Updating Executive Briefings from Live Model Outputs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78638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7091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DemandAura · CH Srivatsava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640080" y="1417320"/>
            <a:ext cx="786384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527048"/>
            <a:ext cx="7498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Weekly Pipeline Execution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22960" y="1801368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week, as new search and media data arrives, the backend re-runs segmentation and generates fresh Markdown reports (/reports/market-segmentation &amp; /reports/4-weeks-segmentation).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2441448"/>
            <a:ext cx="786384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551176"/>
            <a:ext cx="7498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Dynamic Frontend Report Parser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2825496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frontend parses Section 1 (Summary Table) and Section 2 (Detailed Segment Breakdown) on the fly—adapting automatically to any number of discovered segments or updated segment names.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465576"/>
            <a:ext cx="786384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575304"/>
            <a:ext cx="7498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Actionable Commercial Intelligence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22960" y="3849624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market segment automatically surfaces its Metric Trends, Business Interpretation, Recommended Business Use Case, and Core Business Question Answered across the Dashboard, Divergence, and Segmentation views.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· SYSTEM ARCHITECTURE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Production Architecture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78638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7091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DemandAura · CH Srivatsava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640080" y="1371600"/>
            <a:ext cx="7863840" cy="6766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444752"/>
            <a:ext cx="7589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Client &amp; Visualization Layer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77240" y="1673352"/>
            <a:ext cx="7589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19, TypeScript, Tailwind CSS, Recharts. Top Navigation (Home, About, Contact, Dashboard) + Workspace Sidebar (Divergence, Forecast, Segmentation, History).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40080" y="2148840"/>
            <a:ext cx="7863840" cy="6766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221992"/>
            <a:ext cx="7589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Express API Proxy Gateway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77240" y="2450592"/>
            <a:ext cx="7589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/ Express gateway (/api/ml/*) routing requests to https://demandaura.onrender.com with cold-start detection, strict payload construction, and runtime JSON schema validation.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0080" y="2926080"/>
            <a:ext cx="7863840" cy="6766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999232"/>
            <a:ext cx="7589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FastAPI ML Inference Service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77240" y="3227832"/>
            <a:ext cx="7589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FastAPI backend serving XGBoost, LightGBM, and K-Means pipelines along with live weekly segmentation tables and Markdown executive reports.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40080" y="3703320"/>
            <a:ext cx="7863840" cy="6766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776472"/>
            <a:ext cx="7589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Identity &amp; Persistence Layer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77240" y="4005072"/>
            <a:ext cx="7589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 Authentication (Google + Email/Password) &amp; Cloud Firestore storing UID-scoped prediction logs, analyst planning notes, and default market preferences.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· COMMERCIAL WORKFLOW &amp; CONCLUSION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Teams Combine All Four Tools to Make Decisions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78638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7091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DemandAura · CH Srivatsava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640080" y="1463040"/>
            <a:ext cx="246888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627632"/>
            <a:ext cx="213969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01 · SEGMENT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04672" y="1901952"/>
            <a:ext cx="21396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3+ Year Structure vs. 4-Week Momentum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2468880"/>
            <a:ext cx="21396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markets in Premium Organic Growth Engines or Explosive Grassroots Opportunities.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37560" y="1463040"/>
            <a:ext cx="246888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02152" y="1627632"/>
            <a:ext cx="213969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02 · VERIFY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502152" y="1901952"/>
            <a:ext cx="21396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Demand vs. Hype Score (-1.00 to +1.00)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02152" y="2468880"/>
            <a:ext cx="21396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positive divergence (+0.01 to +1.00) so you invest in genuine shopper demand, not media buzz.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35040" y="1463040"/>
            <a:ext cx="246888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99632" y="1627632"/>
            <a:ext cx="213969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03 · FORECAST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199632" y="1901952"/>
            <a:ext cx="21396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4-Week Search Interest Forecast (0–100)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99632" y="2468880"/>
            <a:ext cx="21396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 warehouse inventory replenishment and marketing launches ahead of the projected peak week.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40080" y="3703320"/>
            <a:ext cx="7863840" cy="7772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3822192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 ·  DemandAura Global Market Foresight Platform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Developer: CH Srivatsava  |  github.com/sri21-3  |  linkedin.com/in/21srivatsava  |  srisrivatsava120@gmail.com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DemandAura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DemandAura Project Presentation</dc:title>
  <dc:subject>DemandAura — Global Consumer Demand &amp; Market Foresight Platform</dc:subject>
  <dc:creator>CH Srivatsava</dc:creator>
  <cp:lastModifiedBy>CH Srivatsava</cp:lastModifiedBy>
  <cp:revision>1</cp:revision>
  <dcterms:created xsi:type="dcterms:W3CDTF">2026-10-01T11:19:17Z</dcterms:created>
  <dcterms:modified xsi:type="dcterms:W3CDTF">2026-10-01T11:19:17Z</dcterms:modified>
</cp:coreProperties>
</file>